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Investigating Trends in Neglected Tropical Disease (NTD) Clinical Studies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16 - Lancaster University</a:t>
            </a:r>
          </a:p>
          <a:p>
            <a:r>
              <a:t>WHO ICTRP Data 1999-2023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Source: WHO ICTRP</a:t>
            </a:r>
          </a:p>
          <a:p>
            <a:pPr>
              <a:defRPr sz="1800"/>
            </a:pPr>
            <a:r>
              <a:t>Period: 1999-2023 (25 years)</a:t>
            </a:r>
          </a:p>
          <a:p>
            <a:pPr>
              <a:defRPr sz="1800"/>
            </a:pPr>
            <a:r>
              <a:t>Trials: 311 valid trials</a:t>
            </a:r>
          </a:p>
          <a:p>
            <a:pPr>
              <a:defRPr sz="1800"/>
            </a:pPr>
            <a:r>
              <a:t>Countries: 62</a:t>
            </a:r>
          </a:p>
          <a:p>
            <a:pPr>
              <a:defRPr sz="1800"/>
            </a:pPr>
            <a:r>
              <a:t>Diseases: Chagas, Schistosomiasis, Endemic worms, Visceral leishmaniasis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RQ 2.2.1: What factors affect results publication?</a:t>
            </a:r>
          </a:p>
          <a:p>
            <a:pPr>
              <a:defRPr sz="1800"/>
            </a:pPr>
            <a:r>
              <a:t>RQ 2.2.2: Can network analysis reveal country partnerships?</a:t>
            </a:r>
          </a:p>
          <a:p>
            <a:pPr>
              <a:defRPr sz="1800"/>
            </a:pPr>
            <a:r>
              <a:t>RQ 2.2.3: What proportion funded by pharma companies?</a:t>
            </a:r>
          </a:p>
          <a:p>
            <a:pPr>
              <a:defRPr sz="1800"/>
            </a:pPr>
            <a:r>
              <a:t>RQ 2.2.4: Are children and pregnant women included?</a:t>
            </a:r>
          </a:p>
          <a:p>
            <a:pPr>
              <a:defRPr sz="1800"/>
            </a:pPr>
            <a:r>
              <a:t>RQ 2.2.5: Which drugs studied for Chagas disease?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RQ 2.2.1: Publication Factors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FINDING: Severe Publication Gap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Publication rate: 4.2% (13/311)</a:t>
            </a:r>
          </a:p>
          <a:p>
            <a:pPr>
              <a:defRPr sz="1800"/>
            </a:pPr>
            <a:r>
              <a:t>Unpublished: 95.8% (298/311)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Method: Logistic Regression</a:t>
            </a:r>
          </a:p>
          <a:p>
            <a:pPr>
              <a:defRPr sz="1800"/>
            </a:pPr>
            <a:r>
              <a:t>Features: phase, study type, sponsor, income level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Implication: Severe publication bias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RQ 2.2.1: Publication Predictors</a:t>
            </a:r>
          </a:p>
        </p:txBody>
      </p:sp>
      <p:pic>
        <p:nvPicPr>
          <p:cNvPr id="3" name="Picture 2" descr="coefficients_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4311462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Factors increasing (+) and decreasing (-) publication likelihood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RQ 2.2.3: Pharmaceutical Funding</a:t>
            </a:r>
          </a:p>
        </p:txBody>
      </p:sp>
      <p:pic>
        <p:nvPicPr>
          <p:cNvPr id="3" name="Picture 2" descr="sponsor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7141983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Non-profit: 66.9% | Industry: 7.4% | Government: 4.5%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3498DB"/>
                </a:solidFill>
              </a:defRPr>
            </a:pPr>
            <a:r>
              <a:t>RQ 2.2.3: Industry vs Disease Burden</a:t>
            </a:r>
          </a:p>
        </p:txBody>
      </p:sp>
      <p:pic>
        <p:nvPicPr>
          <p:cNvPr id="3" name="Picture 2" descr="industry_reg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3326804" cy="3200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4572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/>
            </a:pPr>
            <a:r>
              <a:t>60% of industry trials NOT in high-burden regions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RQ 2.2.2: Country Collaborations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FINDING: Strong International Partnerships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Multi-country trials: 43</a:t>
            </a:r>
          </a:p>
          <a:p>
            <a:pPr>
              <a:defRPr sz="1800"/>
            </a:pPr>
            <a:r>
              <a:t>Countries in network: 43</a:t>
            </a:r>
          </a:p>
          <a:p>
            <a:pPr>
              <a:defRPr sz="1800"/>
            </a:pPr>
            <a:r>
              <a:t>Collaborative connections: 163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Top Hub Countries:</a:t>
            </a:r>
          </a:p>
          <a:p>
            <a:pPr>
              <a:defRPr sz="1800"/>
            </a:pPr>
            <a:r>
              <a:t>1. Argentina (22 partners, Centrality: 0.294)</a:t>
            </a:r>
          </a:p>
          <a:p>
            <a:pPr>
              <a:defRPr sz="1800"/>
            </a:pPr>
            <a:r>
              <a:t>2. Cambodia (18 partners, Centrality: 0.275)</a:t>
            </a:r>
          </a:p>
          <a:p>
            <a:pPr>
              <a:defRPr sz="1800"/>
            </a:pPr>
            <a:r>
              <a:t>3. Brazil (18 partners, Centrality: 0.159)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RQ 2.2.4: Special Populations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FINDING: Limited Inclusion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Children:</a:t>
            </a:r>
          </a:p>
          <a:p>
            <a:pPr>
              <a:defRPr sz="1800"/>
            </a:pPr>
            <a:r>
              <a:t>  • No explicit tracking field</a:t>
            </a:r>
          </a:p>
          <a:p>
            <a:pPr>
              <a:defRPr sz="1800"/>
            </a:pPr>
            <a:r>
              <a:t>  • Estimated ~50% may include children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Pregnant Women:</a:t>
            </a:r>
          </a:p>
          <a:p>
            <a:pPr>
              <a:defRPr sz="1800"/>
            </a:pPr>
            <a:r>
              <a:t>  • Explicitly included: 12 trials (3.8%)</a:t>
            </a:r>
          </a:p>
          <a:p>
            <a:pPr>
              <a:defRPr sz="1800"/>
            </a:pPr>
            <a:r>
              <a:t>  • Excluded/unclear: 96.2%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Implication: Vulnerable populations underrepresented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RQ 2.2.5: Drug Trends (Chagas)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FINDING: Benznidazole Dominates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Total Chagas trials: 88</a:t>
            </a:r>
          </a:p>
          <a:p>
            <a:pPr>
              <a:defRPr sz="1800"/>
            </a:pPr>
            <a:r>
              <a:t>Method: Regex extraction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Top 5 Drugs:</a:t>
            </a:r>
          </a:p>
          <a:p>
            <a:pPr>
              <a:defRPr sz="1800"/>
            </a:pPr>
            <a:r>
              <a:t>1. Benznidazole - 21 trials</a:t>
            </a:r>
          </a:p>
          <a:p>
            <a:pPr>
              <a:defRPr sz="1800"/>
            </a:pPr>
            <a:r>
              <a:t>2. Placebo - 10 trials</a:t>
            </a:r>
          </a:p>
          <a:p>
            <a:pPr>
              <a:defRPr sz="1800"/>
            </a:pPr>
            <a:r>
              <a:t>3. E1224 - 6 trials</a:t>
            </a:r>
          </a:p>
          <a:p>
            <a:pPr>
              <a:defRPr sz="1800"/>
            </a:pPr>
            <a:r>
              <a:t>4. Nifurtimox - 5 trials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Implication: Limited drug diversity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Results Address Research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Goal: Clarify evolution of NTD trial activities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Temporal Trends: 25-year coverage</a:t>
            </a:r>
          </a:p>
          <a:p>
            <a:pPr>
              <a:defRPr sz="1800"/>
            </a:pPr>
            <a:r>
              <a:t>✓ Geographic Distribution: 62 countries analyzed</a:t>
            </a:r>
          </a:p>
          <a:p>
            <a:pPr>
              <a:defRPr sz="1800"/>
            </a:pPr>
            <a:r>
              <a:t>✓ Funding Structure: Non-profit 67%, Pharma 7%</a:t>
            </a:r>
          </a:p>
          <a:p>
            <a:pPr>
              <a:defRPr sz="1800"/>
            </a:pPr>
            <a:r>
              <a:t>✓ Publication Patterns: 4.2% gap identified</a:t>
            </a:r>
          </a:p>
          <a:p>
            <a:pPr>
              <a:defRPr sz="1800"/>
            </a:pPr>
            <a:r>
              <a:t>✓ Collaboration: Network analysis reveals hubs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Discoveries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3 Critical Findings: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PUBLICATION CRISIS</a:t>
            </a:r>
          </a:p>
          <a:p>
            <a:pPr>
              <a:defRPr sz="1800"/>
            </a:pPr>
            <a:r>
              <a:t>   → 95.8% unpublished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FUNDING GAP</a:t>
            </a:r>
          </a:p>
          <a:p>
            <a:pPr>
              <a:defRPr sz="1800"/>
            </a:pPr>
            <a:r>
              <a:t>   → Pharma 7.4%, Non-profits 67%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REPRESENTATION GAP</a:t>
            </a:r>
          </a:p>
          <a:p>
            <a:pPr>
              <a:defRPr sz="1800"/>
            </a:pPr>
            <a:r>
              <a:t>   → Pregnant women 3.8%, Children unclear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Challenges: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• Severe publication bias (only 13 published)</a:t>
            </a:r>
          </a:p>
          <a:p>
            <a:pPr>
              <a:defRPr sz="1800"/>
            </a:pPr>
            <a:r>
              <a:t>• Data completeness (4 outliers, missing values)</a:t>
            </a:r>
          </a:p>
          <a:p>
            <a:pPr>
              <a:defRPr sz="1800"/>
            </a:pPr>
            <a:r>
              <a:t>• Classification accuracy (keyword-based)</a:t>
            </a:r>
          </a:p>
          <a:p>
            <a:pPr>
              <a:defRPr sz="1800"/>
            </a:pPr>
            <a:r>
              <a:t>• Temporal imbalance (varies by year)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Methodological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Analytical Challenges: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1. Logistic Regression:</a:t>
            </a:r>
          </a:p>
          <a:p>
            <a:pPr>
              <a:defRPr sz="1800"/>
            </a:pPr>
            <a:r>
              <a:t>   • Small sample (n=13)</a:t>
            </a:r>
          </a:p>
          <a:p>
            <a:pPr>
              <a:defRPr sz="1800"/>
            </a:pPr>
            <a:r>
              <a:t>   • Class imbalance (4% vs 96%)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2. Network Analysis:</a:t>
            </a:r>
          </a:p>
          <a:p>
            <a:pPr>
              <a:defRPr sz="1800"/>
            </a:pPr>
            <a:r>
              <a:t>   • Country-level only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3. Drug Extraction:</a:t>
            </a:r>
          </a:p>
          <a:p>
            <a:pPr>
              <a:defRPr sz="1800"/>
            </a:pPr>
            <a:r>
              <a:t>   • Regex-based, may miss variations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Mitigation: Stratified sampling, transparent docs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Data Collection:</a:t>
            </a:r>
          </a:p>
          <a:p>
            <a:pPr>
              <a:defRPr sz="1800"/>
            </a:pPr>
            <a:r>
              <a:t>• Standardize special population fields</a:t>
            </a:r>
          </a:p>
          <a:p>
            <a:pPr>
              <a:defRPr sz="1800"/>
            </a:pPr>
            <a:r>
              <a:t>• Mandate result publication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Methodological:</a:t>
            </a:r>
          </a:p>
          <a:p>
            <a:pPr>
              <a:defRPr sz="1800"/>
            </a:pPr>
            <a:r>
              <a:t>• Handle class imbalance (SMOTE)</a:t>
            </a:r>
          </a:p>
          <a:p>
            <a:pPr>
              <a:defRPr sz="1800"/>
            </a:pPr>
            <a:r>
              <a:t>• Try ensemble methods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Policy:</a:t>
            </a:r>
          </a:p>
          <a:p>
            <a:pPr>
              <a:defRPr sz="1800"/>
            </a:pPr>
            <a:r>
              <a:t>• Mandate publication (address 96% gap)</a:t>
            </a:r>
          </a:p>
          <a:p>
            <a:pPr>
              <a:defRPr sz="1800"/>
            </a:pPr>
            <a:r>
              <a:t>• Incentivize pharma investment</a:t>
            </a:r>
          </a:p>
          <a:p>
            <a:pPr>
              <a:defRPr sz="1800"/>
            </a:pPr>
            <a:r>
              <a:t>• Target high-burden regions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Strengths of Our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✓ Comprehensive Cleaning</a:t>
            </a:r>
          </a:p>
          <a:p>
            <a:pPr>
              <a:defRPr sz="1800"/>
            </a:pPr>
            <a:r>
              <a:t>  Robust outlier detection, automated classification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Multi-Method Approach</a:t>
            </a:r>
          </a:p>
          <a:p>
            <a:pPr>
              <a:defRPr sz="1800"/>
            </a:pPr>
            <a:r>
              <a:t>  Statistics + ML + Network + Text Mining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Reproducible Pipeline</a:t>
            </a:r>
          </a:p>
          <a:p>
            <a:pPr>
              <a:defRPr sz="1800"/>
            </a:pPr>
            <a:r>
              <a:t>  5 modular scripts, complete documentation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✓ Transparent &amp; Practical</a:t>
            </a:r>
          </a:p>
          <a:p>
            <a:pPr>
              <a:defRPr sz="1800"/>
            </a:pPr>
            <a:r>
              <a:t>  All limitations acknowledged, actionable insights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NTD research needs structural reform:</a:t>
            </a:r>
          </a:p>
          <a:p>
            <a:pPr>
              <a:defRPr sz="1800"/>
            </a:pPr>
            <a:r>
              <a:t>• Better publication incentives</a:t>
            </a:r>
          </a:p>
          <a:p>
            <a:pPr>
              <a:defRPr sz="1800"/>
            </a:pPr>
            <a:r>
              <a:t>• Increased pharma engagement</a:t>
            </a:r>
          </a:p>
          <a:p>
            <a:pPr>
              <a:defRPr sz="1800"/>
            </a:pPr>
            <a:r>
              <a:t>• Improved data standards</a:t>
            </a:r>
          </a:p>
          <a:p>
            <a:pPr>
              <a:defRPr sz="1800"/>
            </a:pPr>
            <a:r>
              <a:t>• Inclusive trial design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Our Contribution:</a:t>
            </a:r>
          </a:p>
          <a:p>
            <a:pPr>
              <a:defRPr sz="1800"/>
            </a:pPr>
            <a:r>
              <a:t>• Evidence for policy makers</a:t>
            </a:r>
          </a:p>
          <a:p>
            <a:pPr>
              <a:defRPr sz="1800"/>
            </a:pPr>
            <a:r>
              <a:t>• Guidance for funders</a:t>
            </a:r>
          </a:p>
          <a:p>
            <a:pPr>
              <a:defRPr sz="1800"/>
            </a:pPr>
            <a:r>
              <a:t>• Roadmap for researchers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311 trials → 5 questions → 3 critical gaps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Questions?</a:t>
            </a:r>
          </a:p>
          <a:p/>
          <a:p>
            <a:r>
              <a:t>Group 16 - Lancaster University</a:t>
            </a:r>
          </a:p>
          <a:p>
            <a:r>
              <a:t>Peizhe Jiang • Congyao Ren • Zixu Wang • Alaghwani Balsam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